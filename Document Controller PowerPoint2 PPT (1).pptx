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2B3F"/>
    <a:srgbClr val="000000"/>
    <a:srgbClr val="ED05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490D-E4A7-3A6C-44D2-2B48D8BA0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023A8-3441-67E0-00AE-DCB7BA215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FC1A0-65D8-E6E8-A9FC-1B28D9A5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623B-A4B3-41E9-95F3-FB42C9792C32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D953F-134D-2B60-115D-DCF2806F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1513-0558-D96A-841B-F377A976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696-E68A-4A11-855D-60722BF91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844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8FEDD-13D7-B608-4E08-E47A0F4E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56C63-75BD-EDBA-B22F-2ACBE2834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77798-7E42-8B04-E9AB-B72857699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623B-A4B3-41E9-95F3-FB42C9792C32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273D7-8BF1-C7D2-AEAD-AEA936936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F782A-72DF-2215-C2E6-904837A6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696-E68A-4A11-855D-60722BF91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11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E7A5B-2DED-A5D2-9CA5-C8CB4FEC4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21D41-64DF-4551-5C0A-EFB29CF1E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FC14A-10F4-7C4E-5C95-7DE1200B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623B-A4B3-41E9-95F3-FB42C9792C32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20A88-AFD4-FD49-E354-D2FAA0FFD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192B2-5AC0-FBD1-9F26-DC7757AA1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696-E68A-4A11-855D-60722BF91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110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4970-45F4-AA5A-C950-6FEF29F5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6E544-A8D4-B706-2ECD-60D5694A9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C1C21-397A-7F37-37EB-9AE6C1A39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52001-C983-7765-8C3A-B856FAFC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623B-A4B3-41E9-95F3-FB42C9792C32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1C9D5-04D9-2993-9197-522570FD1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F4D11-D3C9-20B1-D107-EA094EA2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696-E68A-4A11-855D-60722BF91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88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3674D-9EEB-D7B4-16C4-1357609DD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0CC9F-ECE4-2679-1C64-053794953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EBA11-0D4E-BC60-3BB3-F0376B490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FC81B-EC1A-E41F-75C7-9618ECB5F4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0C5DB3-9D77-5B3E-7038-5864F72A9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0C53FE-0166-81ED-B326-38260C403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623B-A4B3-41E9-95F3-FB42C9792C32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35E0E-B6CB-9CD3-E9F2-8FFE28E9D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0DE96B-4410-05FF-2EF7-505CB1FCC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696-E68A-4A11-855D-60722BF91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066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CFC17-0A57-57A6-5CAD-7FD16203D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D042F-08D2-B13A-0737-8C83B2D80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623B-A4B3-41E9-95F3-FB42C9792C32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3C9E86-4B09-24FD-66DB-37D4DD8F9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6568B-7D65-5743-30E1-04B9E883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696-E68A-4A11-855D-60722BF91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89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C0C199-CA5C-F879-6EDE-380DBFE00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623B-A4B3-41E9-95F3-FB42C9792C32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AD38C4-A269-DE27-109F-1764B407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39C30-4053-BCB6-2BEC-39A42CBD1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696-E68A-4A11-855D-60722BF91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141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34CB-EAC6-3483-F20B-9F20E8A33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62333-AD20-3020-0E4F-5D4FF055E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C02D8-C08B-A71E-B89D-E49520FA9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047B3-3C5A-0E31-FAD5-0CCC377E9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623B-A4B3-41E9-95F3-FB42C9792C32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72392-3368-45AB-ED7F-A40FF55A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7E4D7-804F-BFD3-3423-5B3CF9B7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696-E68A-4A11-855D-60722BF91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911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F2873-0F5C-5AE7-08E5-B664FCEF2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16CC52-B1AD-6E62-A8D5-D099BE405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1A9EE-1ED8-D397-0E95-1243CEF85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4C295-BD48-A41F-F1AD-BC7996E65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623B-A4B3-41E9-95F3-FB42C9792C32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3BBE2-3DBC-08E2-B04C-C5B578EE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73108-A45D-BACF-F4DA-1AE47B76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696-E68A-4A11-855D-60722BF91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14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5813-65C8-0E76-8435-2F910EA3A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A5336-2368-63BA-FD30-8FB207C92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5FC37-A81D-02C0-2768-AF4784A0A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623B-A4B3-41E9-95F3-FB42C9792C32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77B36-09C2-4BBE-C819-F7DAC802D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554D-C1E3-B7B0-3547-01C3E525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696-E68A-4A11-855D-60722BF91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348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59B74-FBC1-7030-870C-03BCA1EB0F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55FC2-CA17-4FFA-C208-F7B3F0DF1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39411-251E-B9BA-1814-E9856C56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623B-A4B3-41E9-95F3-FB42C9792C32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B39EE-551B-D1F5-DDF6-455205E87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4F720-AACE-1B76-8F03-4072796E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696-E68A-4A11-855D-60722BF91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7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EDE8C7-BC41-2B8A-1912-59FF1F6F2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DE2A3-9403-4CA5-C9C4-21A36FF94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F3A69-0B04-E43A-1920-2AF6FA44E8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E623B-A4B3-41E9-95F3-FB42C9792C32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AA948-AC11-F402-6204-198CDC425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C498E-4B29-44DD-6CF1-54EE25B2D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553696-E68A-4A11-855D-60722BF91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44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C93040-F386-3D92-34E8-CB8BD7FC35AD}"/>
              </a:ext>
            </a:extLst>
          </p:cNvPr>
          <p:cNvSpPr/>
          <p:nvPr/>
        </p:nvSpPr>
        <p:spPr>
          <a:xfrm>
            <a:off x="0" y="-1"/>
            <a:ext cx="12192000" cy="1262743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>
                    <a:lumMod val="95000"/>
                  </a:schemeClr>
                </a:solidFill>
              </a:rPr>
              <a:t>DOCUMENT CONTROL</a:t>
            </a:r>
            <a:br>
              <a:rPr lang="en-IN" sz="2400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IN" sz="2400" b="1" dirty="0">
                <a:solidFill>
                  <a:schemeClr val="bg1">
                    <a:lumMod val="95000"/>
                  </a:schemeClr>
                </a:solidFill>
              </a:rPr>
              <a:t>Dashboard- Management Presentation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BF64F1-97B1-5CA1-9D8B-47A239BD86CC}"/>
              </a:ext>
            </a:extLst>
          </p:cNvPr>
          <p:cNvSpPr/>
          <p:nvPr/>
        </p:nvSpPr>
        <p:spPr>
          <a:xfrm>
            <a:off x="4212771" y="1262742"/>
            <a:ext cx="7979229" cy="559525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718611-0F18-D672-AB5E-460D16C54907}"/>
              </a:ext>
            </a:extLst>
          </p:cNvPr>
          <p:cNvSpPr/>
          <p:nvPr/>
        </p:nvSpPr>
        <p:spPr>
          <a:xfrm>
            <a:off x="0" y="1262742"/>
            <a:ext cx="4060371" cy="559525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This dashboard provides an overall view of document control activities, including total document volume, current status, submission trends, and project-wise and discipline-wise performance. It also highlights pending and overdue documents, helping management identify delays, prioritize actions, and maintain effective document control.</a:t>
            </a:r>
          </a:p>
          <a:p>
            <a:pPr algn="ctr"/>
            <a:endParaRPr lang="en-IN" sz="1600" dirty="0"/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IN" sz="1600" dirty="0"/>
              <a:t>It helps management monitor document flow and quickly identify areas that require attention.</a:t>
            </a:r>
          </a:p>
          <a:p>
            <a:pPr algn="ctr"/>
            <a:endParaRPr lang="en-IN" sz="1600" dirty="0"/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IN" sz="1600" dirty="0"/>
              <a:t>The dashboard supports timely follow-up, better coordination, and effective project control.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558C28-D673-38C3-27E1-B799E6719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771" y="1665514"/>
            <a:ext cx="7772399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96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02CA19-637B-9DB2-61F5-EDD8E5CF3D44}"/>
              </a:ext>
            </a:extLst>
          </p:cNvPr>
          <p:cNvSpPr/>
          <p:nvPr/>
        </p:nvSpPr>
        <p:spPr>
          <a:xfrm>
            <a:off x="38099" y="0"/>
            <a:ext cx="12115801" cy="1317171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 01  Executive Summary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4FC176-B0DA-4FDB-3AB7-CDB537258083}"/>
              </a:ext>
            </a:extLst>
          </p:cNvPr>
          <p:cNvSpPr/>
          <p:nvPr/>
        </p:nvSpPr>
        <p:spPr>
          <a:xfrm>
            <a:off x="5094514" y="1328057"/>
            <a:ext cx="7059386" cy="575854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8D2918-2B3A-9193-0C68-711A806034DF}"/>
              </a:ext>
            </a:extLst>
          </p:cNvPr>
          <p:cNvSpPr/>
          <p:nvPr/>
        </p:nvSpPr>
        <p:spPr>
          <a:xfrm>
            <a:off x="38099" y="1317171"/>
            <a:ext cx="4914900" cy="575854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400" b="1" dirty="0"/>
              <a:t>Overall Document Status:</a:t>
            </a:r>
            <a:r>
              <a:rPr lang="en-IN" sz="1400" dirty="0"/>
              <a:t> Provides visibility of total documents and their current status, including </a:t>
            </a:r>
            <a:r>
              <a:rPr lang="en-IN" sz="1400" b="1" dirty="0"/>
              <a:t>Approved, Submitted, Under Review, Rejected, and Overdue</a:t>
            </a:r>
            <a:r>
              <a:rPr lang="en-IN" sz="1400" dirty="0"/>
              <a:t> documents.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400" b="1" dirty="0"/>
              <a:t>Status Distribution:</a:t>
            </a:r>
            <a:r>
              <a:rPr lang="en-IN" sz="1400" dirty="0"/>
              <a:t> Highlights the proportion of documents at each stage of the document review and approval cycle.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400" b="1" dirty="0"/>
              <a:t>Monthly Submission Trend:</a:t>
            </a:r>
            <a:r>
              <a:rPr lang="en-IN" sz="1400" dirty="0"/>
              <a:t> Tracks document submissions month-by-month to identify workload patterns and changes in submission performance.</a:t>
            </a:r>
          </a:p>
          <a:p>
            <a:pPr algn="ctr"/>
            <a:endParaRPr lang="en-IN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400" b="1" dirty="0"/>
              <a:t>Project-Wise Performance:</a:t>
            </a:r>
            <a:r>
              <a:rPr lang="en-IN" sz="1400" dirty="0"/>
              <a:t> Compares document submissions across different projects and highlights variations in document activity.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400" b="1" dirty="0"/>
              <a:t>Project-Wise Performance:</a:t>
            </a:r>
            <a:r>
              <a:rPr lang="en-IN" sz="1400" dirty="0"/>
              <a:t> Compares document submissions across different projects and highlights variations in document activity.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400" b="1" dirty="0"/>
              <a:t>Discipline-Wise Analysis:</a:t>
            </a:r>
            <a:r>
              <a:rPr lang="en-IN" sz="1400" dirty="0"/>
              <a:t> Shows the distribution of documents across major disciplines such as </a:t>
            </a:r>
            <a:r>
              <a:rPr lang="en-IN" sz="1400" b="1" dirty="0"/>
              <a:t>Civil, Electrical, ELV, Mechanical, HSE, and QA/QC</a:t>
            </a:r>
            <a:r>
              <a:rPr lang="en-IN" sz="1400" dirty="0"/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4CD156-C421-FB38-E96E-4764D6A2F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686" y="1763486"/>
            <a:ext cx="6830785" cy="509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5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F8C9BE5-61E1-E815-B13C-BAD4D5F180DF}"/>
              </a:ext>
            </a:extLst>
          </p:cNvPr>
          <p:cNvSpPr/>
          <p:nvPr/>
        </p:nvSpPr>
        <p:spPr>
          <a:xfrm>
            <a:off x="0" y="76200"/>
            <a:ext cx="12192000" cy="1317171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br>
              <a:rPr lang="en-IN" sz="2400" b="1" dirty="0">
                <a:solidFill>
                  <a:schemeClr val="bg1"/>
                </a:solidFill>
              </a:rPr>
            </a:br>
            <a:r>
              <a:rPr lang="en-IN" sz="2400" b="1" dirty="0">
                <a:solidFill>
                  <a:schemeClr val="bg1"/>
                </a:solidFill>
              </a:rPr>
              <a:t>03 | RISKS &amp; BOTTLENECKS</a:t>
            </a:r>
          </a:p>
          <a:p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Key risks and bottlenecks impacting document control performance and timely project delivery.</a:t>
            </a:r>
          </a:p>
          <a:p>
            <a:endParaRPr lang="en-IN" sz="2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D56C6A6-12B8-D7FE-2A1B-6B4DCBE10E78}"/>
              </a:ext>
            </a:extLst>
          </p:cNvPr>
          <p:cNvSpPr/>
          <p:nvPr/>
        </p:nvSpPr>
        <p:spPr>
          <a:xfrm>
            <a:off x="1578426" y="5018314"/>
            <a:ext cx="6977743" cy="7837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05 | PENDING ACTIONS</a:t>
            </a:r>
          </a:p>
          <a:p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Delayed responses or actions from responsible teams can increase document aging and backlog.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A402C5B-2169-2B78-4FA7-212DB237C54A}"/>
              </a:ext>
            </a:extLst>
          </p:cNvPr>
          <p:cNvSpPr/>
          <p:nvPr/>
        </p:nvSpPr>
        <p:spPr>
          <a:xfrm>
            <a:off x="-1" y="5900057"/>
            <a:ext cx="12191999" cy="95794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/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Key bottlenecks are primarily associated with document aging, approval delays, overdue submissions,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repeated  rejections, and pending actions.</a:t>
            </a:r>
          </a:p>
          <a:p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FB55EFE-3084-5819-C155-190BD904E4F7}"/>
              </a:ext>
            </a:extLst>
          </p:cNvPr>
          <p:cNvSpPr/>
          <p:nvPr/>
        </p:nvSpPr>
        <p:spPr>
          <a:xfrm>
            <a:off x="1578428" y="4136571"/>
            <a:ext cx="6977742" cy="7837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bg2">
                    <a:lumMod val="25000"/>
                  </a:schemeClr>
                </a:solidFill>
              </a:rPr>
              <a:t>04 | REPEATED REJECTIONS</a:t>
            </a:r>
          </a:p>
          <a:p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Frequent document rejections can indicate issues with quality, completeness, or compliance</a:t>
            </a:r>
            <a:r>
              <a:rPr lang="en-IN" sz="1600" dirty="0"/>
              <a:t>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D326AF0-4AEA-6D5B-9816-B7CD94C4A4B1}"/>
              </a:ext>
            </a:extLst>
          </p:cNvPr>
          <p:cNvSpPr/>
          <p:nvPr/>
        </p:nvSpPr>
        <p:spPr>
          <a:xfrm>
            <a:off x="1578427" y="3254828"/>
            <a:ext cx="6977742" cy="7837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bg2">
                    <a:lumMod val="25000"/>
                  </a:schemeClr>
                </a:solidFill>
              </a:rPr>
              <a:t>03 | OVERDUE DOCUMENTS</a:t>
            </a:r>
          </a:p>
          <a:p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Documents exceeding the expected timeline require immediate follow-up and escalation.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8A8EA2D-D1C3-9002-46A8-8EC172AFDA8C}"/>
              </a:ext>
            </a:extLst>
          </p:cNvPr>
          <p:cNvSpPr/>
          <p:nvPr/>
        </p:nvSpPr>
        <p:spPr>
          <a:xfrm>
            <a:off x="1578429" y="2373085"/>
            <a:ext cx="6977740" cy="7837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bg2">
                    <a:lumMod val="25000"/>
                  </a:schemeClr>
                </a:solidFill>
              </a:rPr>
              <a:t>  02 | APPROVAL DELAYS</a:t>
            </a:r>
          </a:p>
          <a:p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 Slow review and approval cycles may create bottlenecks and impact planned   submission/closure timelines.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52072DD-EDD8-38FE-7A56-2D08AA7D3C10}"/>
              </a:ext>
            </a:extLst>
          </p:cNvPr>
          <p:cNvSpPr/>
          <p:nvPr/>
        </p:nvSpPr>
        <p:spPr>
          <a:xfrm>
            <a:off x="1578428" y="1491342"/>
            <a:ext cx="6977741" cy="7837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bg2">
                    <a:lumMod val="25000"/>
                  </a:schemeClr>
                </a:solidFill>
              </a:rPr>
              <a:t>01 | LONG-PENDING DOCUMENTS</a:t>
            </a:r>
          </a:p>
          <a:p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Documents remaining under review for an extended period can delay final closure and affect document flow.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EB82B2B-9FB7-2CA4-3FAE-1C99D605B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3258" y="1491342"/>
            <a:ext cx="3548740" cy="427808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7F51994-5909-F1A6-E75E-1AA0EF7F6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52" y="5954485"/>
            <a:ext cx="849048" cy="84908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CF7C861-2991-FF2F-078E-79A617B171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20343"/>
            <a:ext cx="1687286" cy="90351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1A2E888-F41A-E7F9-540F-D8829CF841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8600"/>
            <a:ext cx="1687286" cy="107579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16D4874-AA8B-E238-B3E1-C5EECBA17B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52" y="3189514"/>
            <a:ext cx="1269841" cy="78377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C4037CD-5951-C170-58D3-4BAA2E32BF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3" y="2228021"/>
            <a:ext cx="1356930" cy="102680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B5A5D91-D7B1-C494-B5D5-9E8DD8C182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72" y="1491342"/>
            <a:ext cx="1008622" cy="72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4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742C382-2A47-DFB5-1E91-9A945840A811}"/>
              </a:ext>
            </a:extLst>
          </p:cNvPr>
          <p:cNvSpPr/>
          <p:nvPr/>
        </p:nvSpPr>
        <p:spPr>
          <a:xfrm>
            <a:off x="0" y="-87086"/>
            <a:ext cx="12192000" cy="1164771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sz="2400" b="1" dirty="0">
                <a:solidFill>
                  <a:schemeClr val="bg1"/>
                </a:solidFill>
              </a:rPr>
              <a:t>04  Recommendations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05B3B1-9C49-95D0-417F-F5EF91FD7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0526" y="-1"/>
            <a:ext cx="1289959" cy="96882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A6BBD8-710F-323A-9C9D-6B83AC6DC46A}"/>
              </a:ext>
            </a:extLst>
          </p:cNvPr>
          <p:cNvSpPr/>
          <p:nvPr/>
        </p:nvSpPr>
        <p:spPr>
          <a:xfrm>
            <a:off x="511629" y="1330778"/>
            <a:ext cx="3537858" cy="177845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</a:rPr>
              <a:t>01 | Strengthen Follow-Up</a:t>
            </a:r>
            <a:br>
              <a:rPr lang="en-IN" sz="1400" dirty="0"/>
            </a:br>
            <a:r>
              <a:rPr lang="en-IN" sz="1400" dirty="0">
                <a:solidFill>
                  <a:schemeClr val="tx1"/>
                </a:solidFill>
              </a:rPr>
              <a:t>Regularly track pending and overdue documents to ensure timely action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76EBB84-C95E-7C1A-6251-C50A7C0B16FF}"/>
              </a:ext>
            </a:extLst>
          </p:cNvPr>
          <p:cNvSpPr/>
          <p:nvPr/>
        </p:nvSpPr>
        <p:spPr>
          <a:xfrm>
            <a:off x="4582887" y="1351190"/>
            <a:ext cx="3309256" cy="175804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02 | Clear Ownership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Assign responsible persons and target closure dates for pending documents.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441BBB2-18E5-99D7-607E-E66CE2E89679}"/>
              </a:ext>
            </a:extLst>
          </p:cNvPr>
          <p:cNvSpPr/>
          <p:nvPr/>
        </p:nvSpPr>
        <p:spPr>
          <a:xfrm>
            <a:off x="8534400" y="1330778"/>
            <a:ext cx="3309256" cy="175804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03 | Prioritize Critical Items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Focus on long-pending and high-priority documents requiring immediate attention.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E850BCF-DA2F-AA95-7624-1C3E9C4D8EE3}"/>
              </a:ext>
            </a:extLst>
          </p:cNvPr>
          <p:cNvSpPr/>
          <p:nvPr/>
        </p:nvSpPr>
        <p:spPr>
          <a:xfrm>
            <a:off x="511629" y="3459614"/>
            <a:ext cx="3537858" cy="167639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04 | Improve Review Cycle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Coordinate with reviewers to reduce approval and response delays.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ECAD87C-0666-A768-B3AB-C0501DD9517E}"/>
              </a:ext>
            </a:extLst>
          </p:cNvPr>
          <p:cNvSpPr/>
          <p:nvPr/>
        </p:nvSpPr>
        <p:spPr>
          <a:xfrm>
            <a:off x="4582887" y="3428999"/>
            <a:ext cx="3461656" cy="167639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05 | Monitor Rejections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Identify common rejection reasons and improve document quality before submission.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FA9D970-9773-647B-1410-6E9F2733FCD0}"/>
              </a:ext>
            </a:extLst>
          </p:cNvPr>
          <p:cNvSpPr/>
          <p:nvPr/>
        </p:nvSpPr>
        <p:spPr>
          <a:xfrm>
            <a:off x="8534400" y="3449409"/>
            <a:ext cx="3309256" cy="167639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06 | Management Review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Include KPI, aging, and pending status in regular project review meetings.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FB17B25-1C19-CF35-A502-FA4F535FF6E6}"/>
              </a:ext>
            </a:extLst>
          </p:cNvPr>
          <p:cNvSpPr/>
          <p:nvPr/>
        </p:nvSpPr>
        <p:spPr>
          <a:xfrm>
            <a:off x="402771" y="5476190"/>
            <a:ext cx="11397342" cy="128451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</a:rPr>
              <a:t>Expected Outcome</a:t>
            </a:r>
          </a:p>
          <a:p>
            <a:r>
              <a:rPr lang="en-IN" dirty="0">
                <a:solidFill>
                  <a:schemeClr val="tx1"/>
                </a:solidFill>
              </a:rPr>
              <a:t>Faster Closure | Reduced Aging | Better Compliance | Improved Document Flow</a:t>
            </a:r>
          </a:p>
        </p:txBody>
      </p:sp>
    </p:spTree>
    <p:extLst>
      <p:ext uri="{BB962C8B-B14F-4D97-AF65-F5344CB8AC3E}">
        <p14:creationId xmlns:p14="http://schemas.microsoft.com/office/powerpoint/2010/main" val="2731274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C162E95-1151-2B04-DC02-9145FCFE58BC}"/>
              </a:ext>
            </a:extLst>
          </p:cNvPr>
          <p:cNvSpPr/>
          <p:nvPr/>
        </p:nvSpPr>
        <p:spPr>
          <a:xfrm>
            <a:off x="-185058" y="0"/>
            <a:ext cx="12377058" cy="11430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>
                    <a:lumMod val="95000"/>
                  </a:schemeClr>
                </a:solidFill>
              </a:rPr>
              <a:t>04  Aging Analysis &amp; Management Action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FEDE78-A7FF-95C5-FAFF-685DCEB1DDE1}"/>
              </a:ext>
            </a:extLst>
          </p:cNvPr>
          <p:cNvSpPr/>
          <p:nvPr/>
        </p:nvSpPr>
        <p:spPr>
          <a:xfrm>
            <a:off x="0" y="5910942"/>
            <a:ext cx="12192000" cy="94705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“The improvement plan focuses on reducing document aging, strengthening accountability, improving approval turnaround, and maintaining continuous performance monitoring.”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79C57F-75A8-3AC8-D040-4FE5CCF43BB2}"/>
              </a:ext>
            </a:extLst>
          </p:cNvPr>
          <p:cNvSpPr/>
          <p:nvPr/>
        </p:nvSpPr>
        <p:spPr>
          <a:xfrm>
            <a:off x="-185058" y="1240971"/>
            <a:ext cx="12300858" cy="4572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/>
              <a:t>30–60 Days</a:t>
            </a:r>
          </a:p>
          <a:p>
            <a:r>
              <a:rPr lang="en-IN" b="1"/>
              <a:t>Improve Review &amp; Approval Cycle</a:t>
            </a:r>
            <a:br>
              <a:rPr lang="en-IN"/>
            </a:br>
            <a:r>
              <a:rPr lang="en-IN"/>
              <a:t>Reduce response time through regular coordination with review teams.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09FF0D-1AB9-D22A-D1B0-C3952E82BC51}"/>
              </a:ext>
            </a:extLst>
          </p:cNvPr>
          <p:cNvSpPr/>
          <p:nvPr/>
        </p:nvSpPr>
        <p:spPr>
          <a:xfrm>
            <a:off x="299357" y="1382486"/>
            <a:ext cx="11397342" cy="96882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Immediate Action</a:t>
            </a:r>
          </a:p>
          <a:p>
            <a:r>
              <a:rPr lang="en-IN" b="1" dirty="0">
                <a:solidFill>
                  <a:schemeClr val="tx1"/>
                </a:solidFill>
              </a:rPr>
              <a:t>Identify Critical &amp; Overdue Documents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Prioritize long-pending documents and initiate immediate follow-up.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F69D8B0-40A6-80E0-BC24-1E4215015B61}"/>
              </a:ext>
            </a:extLst>
          </p:cNvPr>
          <p:cNvSpPr/>
          <p:nvPr/>
        </p:nvSpPr>
        <p:spPr>
          <a:xfrm>
            <a:off x="299357" y="2492828"/>
            <a:ext cx="3575958" cy="183968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C00000"/>
                </a:solidFill>
              </a:rPr>
              <a:t>0–30 Days</a:t>
            </a:r>
          </a:p>
          <a:p>
            <a:r>
              <a:rPr lang="en-IN" b="1" dirty="0">
                <a:solidFill>
                  <a:srgbClr val="C00000"/>
                </a:solidFill>
              </a:rPr>
              <a:t>Strengthen Ownership &amp; Follow-Up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Assign responsible owners and define clear target closure dates.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7E260F8-1164-3654-A357-48D46B852C82}"/>
              </a:ext>
            </a:extLst>
          </p:cNvPr>
          <p:cNvSpPr/>
          <p:nvPr/>
        </p:nvSpPr>
        <p:spPr>
          <a:xfrm>
            <a:off x="4005943" y="2503713"/>
            <a:ext cx="3717475" cy="182880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 </a:t>
            </a:r>
          </a:p>
          <a:p>
            <a:r>
              <a:rPr lang="en-IN" b="1" dirty="0">
                <a:solidFill>
                  <a:srgbClr val="C00000"/>
                </a:solidFill>
              </a:rPr>
              <a:t>30–60 Days</a:t>
            </a:r>
          </a:p>
          <a:p>
            <a:r>
              <a:rPr lang="en-IN" b="1" dirty="0">
                <a:solidFill>
                  <a:srgbClr val="C00000"/>
                </a:solidFill>
              </a:rPr>
              <a:t>Improve Review &amp; Approval Cycle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Reduce response time through regular coordination with review teams.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C9FEFB7-6462-1807-B5BC-7A11612D8A04}"/>
              </a:ext>
            </a:extLst>
          </p:cNvPr>
          <p:cNvSpPr/>
          <p:nvPr/>
        </p:nvSpPr>
        <p:spPr>
          <a:xfrm>
            <a:off x="7854046" y="2449285"/>
            <a:ext cx="4054929" cy="182880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 </a:t>
            </a:r>
          </a:p>
          <a:p>
            <a:r>
              <a:rPr lang="en-IN" b="1" dirty="0">
                <a:solidFill>
                  <a:srgbClr val="D52B3F"/>
                </a:solidFill>
              </a:rPr>
              <a:t>60–90 Days</a:t>
            </a:r>
          </a:p>
          <a:p>
            <a:r>
              <a:rPr lang="en-IN" b="1" dirty="0">
                <a:solidFill>
                  <a:srgbClr val="D52B3F"/>
                </a:solidFill>
              </a:rPr>
              <a:t>KPI &amp; Aging Monitoring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Track KPI performance and aging trends to measure improvement</a:t>
            </a:r>
            <a:r>
              <a:rPr lang="en-IN" dirty="0"/>
              <a:t>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0311F6D-3D05-4381-34E2-06801F987CA9}"/>
              </a:ext>
            </a:extLst>
          </p:cNvPr>
          <p:cNvSpPr/>
          <p:nvPr/>
        </p:nvSpPr>
        <p:spPr>
          <a:xfrm>
            <a:off x="299357" y="4430485"/>
            <a:ext cx="11397342" cy="119742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Ongoing</a:t>
            </a:r>
          </a:p>
          <a:p>
            <a:r>
              <a:rPr lang="en-IN" b="1" dirty="0">
                <a:solidFill>
                  <a:schemeClr val="tx1"/>
                </a:solidFill>
              </a:rPr>
              <a:t>Continuous Monitoring &amp; Management Review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Conduct regular reviews and implement corrective actions where required.</a:t>
            </a:r>
          </a:p>
        </p:txBody>
      </p:sp>
    </p:spTree>
    <p:extLst>
      <p:ext uri="{BB962C8B-B14F-4D97-AF65-F5344CB8AC3E}">
        <p14:creationId xmlns:p14="http://schemas.microsoft.com/office/powerpoint/2010/main" val="2680790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600</Words>
  <Application>Microsoft Office PowerPoint</Application>
  <PresentationFormat>Widescreen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ruman ahmad | kaleidofin</dc:creator>
  <cp:lastModifiedBy>ruman ahmad | kaleidofin</cp:lastModifiedBy>
  <cp:revision>26</cp:revision>
  <dcterms:created xsi:type="dcterms:W3CDTF">2026-08-08T05:37:16Z</dcterms:created>
  <dcterms:modified xsi:type="dcterms:W3CDTF">2026-08-08T09:40:00Z</dcterms:modified>
</cp:coreProperties>
</file>